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R² Score Comparison (Higher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227-4479-993E-14CE35C2FC21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27-4479-993E-14CE35C2FC21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227-4479-993E-14CE35C2FC2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Polynomial Regression</c:v>
                </c:pt>
                <c:pt idx="2">
                  <c:v>Multiple Linear Regression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0.82499999999999996</c:v>
                </c:pt>
                <c:pt idx="1">
                  <c:v>0.92600000000000005</c:v>
                </c:pt>
                <c:pt idx="2">
                  <c:v>0.82499999999999996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227-4479-993E-14CE35C2FC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8849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CAR PRICE PREDICTION MODEL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Machine Learning Analysis &amp; Model Comparison</a:t>
            </a:r>
            <a:endParaRPr 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61949A-52E9-A47D-0ABB-15313B4FF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545" y="104775"/>
            <a:ext cx="4958861" cy="1683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7551D2-EC09-A3EC-E9C4-C92B88F9CC21}"/>
              </a:ext>
            </a:extLst>
          </p:cNvPr>
          <p:cNvSpPr txBox="1"/>
          <p:nvPr/>
        </p:nvSpPr>
        <p:spPr>
          <a:xfrm>
            <a:off x="372794" y="3611880"/>
            <a:ext cx="2665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Submitted By:</a:t>
            </a:r>
          </a:p>
          <a:p>
            <a:r>
              <a:rPr lang="en-US" dirty="0">
                <a:solidFill>
                  <a:schemeClr val="bg1"/>
                </a:solidFill>
              </a:rPr>
              <a:t>Akampreet Singh</a:t>
            </a:r>
          </a:p>
          <a:p>
            <a:r>
              <a:rPr lang="en-US" dirty="0">
                <a:solidFill>
                  <a:schemeClr val="bg1"/>
                </a:solidFill>
              </a:rPr>
              <a:t>Damanpreet Singh</a:t>
            </a:r>
          </a:p>
          <a:p>
            <a:r>
              <a:rPr lang="en-US" dirty="0">
                <a:solidFill>
                  <a:schemeClr val="bg1"/>
                </a:solidFill>
              </a:rPr>
              <a:t>Jasraj Singh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1ABFA-E2B1-65C7-1E8F-E9B6A259D7FC}"/>
              </a:ext>
            </a:extLst>
          </p:cNvPr>
          <p:cNvSpPr txBox="1"/>
          <p:nvPr/>
        </p:nvSpPr>
        <p:spPr>
          <a:xfrm>
            <a:off x="6210886" y="3611880"/>
            <a:ext cx="2665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Submitted To:</a:t>
            </a:r>
          </a:p>
          <a:p>
            <a:r>
              <a:rPr lang="en-US" dirty="0">
                <a:solidFill>
                  <a:schemeClr val="bg1"/>
                </a:solidFill>
              </a:rPr>
              <a:t>Mr. Aayush Chand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Predict car prices based on vehicle characteristics and specifications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Compare multiple regression algorithms to find the best performing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CarPrice_Assignment.csv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Features include car brand, body type, engine specifications, horsepower, and more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Target variable: Price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Data Cleaning &amp; Feature Engineering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Brand Extraction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Extracted car brand from CarName column and standardized naming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Data Cleaning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5146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Fixed inconsistent brand names (maxda→mazda, porcshe→porsche, etc.)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31089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Feature Selection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4290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Dropped irrelevant features: car_ID, wheelbase, door number, dimensions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4023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Encoding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3434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Applied one-hot encoding to categorical variables for model compatibility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Exploratory Data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VISUALIZATIONS USED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73152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Correlation Heatmap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Identified top 10 features correlated with price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73152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Scatter Plot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Analyzed relationship between horsepower and price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73152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033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Distribution Plot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Examined price distribution and data patterns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A896"/>
                </a:solidFill>
              </a:rPr>
              <a:t>Key Insight: Horsepower showed strong positive correlation with car price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Model 1: Linear Regression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ALGORITHM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Linear Regression establishes a linear relationship between features and target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Formula: y = β₀ + β₁x₁ + β₂x₂ + ... + βₙxₙ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Uses least squares method to minimize residual sum of squares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PERFORMANCE METRICS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R² Score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bg1"/>
                </a:solidFill>
              </a:rPr>
              <a:t>0.825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bg1"/>
                </a:solidFill>
              </a:rPr>
              <a:t>~2,100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RMSE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bg1"/>
                </a:solidFill>
              </a:rPr>
              <a:t>~2,800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Model 2: Polynomial Regression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ALGORITHM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Extends linear regression by adding polynomial terms (degree 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Captures non-linear relationships between features and price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Uses StandardScaler for feature normalization to improve convergence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PERFORMANCE METRICS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R² Score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bg1"/>
                </a:solidFill>
              </a:rPr>
              <a:t>0.926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bg1"/>
                </a:solidFill>
              </a:rPr>
              <a:t>~1,450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RMSE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bg1"/>
                </a:solidFill>
              </a:rPr>
              <a:t>~1,850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⭐ Best Model Performance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Model 3: Multiple Linear Regression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ALGORITHM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Similar to simple linear regression but with different preprocessing approach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Uses ColumnTransformer with OneHotEncoder for categorical features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Alternative encoding strategy compared to Model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PERFORMANCE METRICS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R² Score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bg1"/>
                </a:solidFill>
              </a:rPr>
              <a:t>0.825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bg1"/>
                </a:solidFill>
              </a:rPr>
              <a:t>~2,100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RMSE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bg1"/>
                </a:solidFill>
              </a:rPr>
              <a:t>~2,800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Model Performance Comparison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914400" y="1371600"/>
          <a:ext cx="7315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Model Evaluation Insights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VISUALIZATION TECHNIQUES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Predicted vs Actual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2402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Scatter plots showed strong alignment along diagonal for all models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Residual Distribution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Histograms revealed approximately normal distribution of residuals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Residual Plot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Scatter plots of residuals vs predicted values checked for heteroscedasticity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Why Polynomial Regression Performed Better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NON-LINEAR RELATIONSHIPS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Car pricing involves complex non-linear relationships. For example, horsepower's impact on price isn't constant—luxury cars with high horsepower command premium prices that increase exponentially, not linearly.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FEATURE INTERACTIONS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Polynomial features capture interactions between variables (e.g., engine size × horsepower). These interaction terms better represent how multiple features combine to influence price in real-world scenarios.</a:t>
            </a:r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00A896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FLEXIBILITY VS SIMPLICITY TRADE-OFF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While linear models assume straight-line relationships, polynomial regression (degree 4) adds curvature to fit the data better. The StandardScaler prevented overfitting, balancing flexibility with generalization</a:t>
            </a:r>
            <a:r>
              <a:rPr lang="en-US" sz="1200" dirty="0">
                <a:solidFill>
                  <a:srgbClr val="1E293B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Future Improvements &amp;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66344" y="961439"/>
            <a:ext cx="4032504" cy="63876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91138" y="968912"/>
            <a:ext cx="64008" cy="632607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53796" y="914839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Advanced Algorithms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" y="1257739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Implement ensemble methods like Random Forest, Gradient Boosting (XGBoost, LightGBM), or Neural Networks for potentially higher 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08576" y="1051560"/>
            <a:ext cx="402336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4651834" y="1038373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928616" y="10058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1252025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Create new features such as car age, brand prestige scores, fuel efficiency ratings, and maintenance cost estimates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402336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71619" y="166878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8729" y="1720655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" y="1952773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Create new features such as car age, brand prestige scores, fuel efficiency ratings, and maintenance cost estimates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706587"/>
            <a:ext cx="402336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0427" y="1696915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696915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Hyperparameter Tuning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4608" y="1971235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 GridSearchCV or RandomizedSearchCV to optimize polynomial degree, regularization parameters, and learning rates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" y="2342271"/>
            <a:ext cx="4023360" cy="5486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Shape 18"/>
          <p:cNvSpPr/>
          <p:nvPr/>
        </p:nvSpPr>
        <p:spPr>
          <a:xfrm>
            <a:off x="457200" y="2336995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Hyperparameter Tuning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" y="2606039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 GridSearchCV or RandomizedSearchCV to optimize polynomial degree, regularization parameters, and learning rates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51834" y="2351942"/>
            <a:ext cx="402336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649724" y="233172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336995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Cross-Validation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7375" y="258054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Implement k-fold cross-validation to ensure model performance is consistent across different data splits and reduce overfitting risk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" y="3006969"/>
            <a:ext cx="402336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Shape 26"/>
          <p:cNvSpPr/>
          <p:nvPr/>
        </p:nvSpPr>
        <p:spPr>
          <a:xfrm>
            <a:off x="492369" y="3001693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028071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Cross-Validation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" y="32689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Implement k-fold cross-validation to ensure model performance is consistent across different data splits and reduce overfitting risk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36008" y="3048293"/>
            <a:ext cx="402336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0" y="3028071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4910328" y="30861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Larger Dataset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64608" y="332393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Collect more data with diverse car models, recent years, and regional variations to improve model generalization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" y="3712552"/>
            <a:ext cx="402336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4"/>
          <p:cNvSpPr/>
          <p:nvPr/>
        </p:nvSpPr>
        <p:spPr>
          <a:xfrm>
            <a:off x="471619" y="3727499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708660" y="3759591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Larger Dataset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" y="3988191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Collect more data with diverse car models, recent years, and regional variations to improve model generalization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86300" y="3727499"/>
            <a:ext cx="4023360" cy="5486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0" name="Shape 38"/>
          <p:cNvSpPr/>
          <p:nvPr/>
        </p:nvSpPr>
        <p:spPr>
          <a:xfrm>
            <a:off x="4659923" y="3743765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1" name="Text 39"/>
          <p:cNvSpPr/>
          <p:nvPr/>
        </p:nvSpPr>
        <p:spPr>
          <a:xfrm>
            <a:off x="4864608" y="371255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Regularization Techniques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46320" y="3994345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Apply Ridge, Lasso, or ElasticNet regression to prevent overfitting and improve model stability with high-degree polynomials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2369" y="4343400"/>
            <a:ext cx="402336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Shape 42"/>
          <p:cNvSpPr/>
          <p:nvPr/>
        </p:nvSpPr>
        <p:spPr>
          <a:xfrm>
            <a:off x="471619" y="4359666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437549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Regularization Techniques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52389" y="46177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Apply Ridge, Lasso, or ElasticNet regression to prevent overfitting and improve model stability with high-degree polynomials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Findings &amp; Conclusions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731520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6766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🏆 Winner: Polynomial Regression (Degree 4)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Achieved highest R² score of 0.926 (92.6% variance explained)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Lowest prediction errors (MAE: ~1,450, RMSE: ~1,850)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Successfully captured non-linear relationships in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Linear models performed adequately (R² ≈ 0.825) but polynomial regression's ability to model complex relationships resulted in superior predictive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3D6F42-83E0-9833-C069-308129621C41}"/>
              </a:ext>
            </a:extLst>
          </p:cNvPr>
          <p:cNvSpPr txBox="1"/>
          <p:nvPr/>
        </p:nvSpPr>
        <p:spPr>
          <a:xfrm>
            <a:off x="1244991" y="1821766"/>
            <a:ext cx="6865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009999"/>
                </a:solidFill>
              </a:rPr>
              <a:t>THANK YOU</a:t>
            </a:r>
            <a:endParaRPr lang="en-IN" sz="5400" dirty="0">
              <a:solidFill>
                <a:srgbClr val="009999"/>
              </a:solidFill>
            </a:endParaRP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F0DC02F4-EF41-BCD0-BFDC-D247061660ED}"/>
              </a:ext>
            </a:extLst>
          </p:cNvPr>
          <p:cNvSpPr/>
          <p:nvPr/>
        </p:nvSpPr>
        <p:spPr>
          <a:xfrm>
            <a:off x="2982351" y="2679895"/>
            <a:ext cx="3411415" cy="65201"/>
          </a:xfrm>
          <a:prstGeom prst="flowChartProcess">
            <a:avLst/>
          </a:prstGeom>
          <a:solidFill>
            <a:srgbClr val="0099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731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806</Words>
  <Application>Microsoft Office PowerPoint</Application>
  <PresentationFormat>On-screen Show (16:9)</PresentationFormat>
  <Paragraphs>148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Price Prediction Model</dc:title>
  <dc:subject>PptxGenJS Presentation</dc:subject>
  <dc:creator>Data Science Team</dc:creator>
  <cp:lastModifiedBy>Damanpreet Singh</cp:lastModifiedBy>
  <cp:revision>2</cp:revision>
  <dcterms:created xsi:type="dcterms:W3CDTF">2026-05-11T18:37:26Z</dcterms:created>
  <dcterms:modified xsi:type="dcterms:W3CDTF">2026-05-11T19:10:14Z</dcterms:modified>
</cp:coreProperties>
</file>